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91" r:id="rId6"/>
    <p:sldId id="408" r:id="rId7"/>
    <p:sldId id="411" r:id="rId8"/>
    <p:sldId id="412" r:id="rId9"/>
    <p:sldId id="413" r:id="rId10"/>
    <p:sldId id="404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A3CA-40D1-80F8-3FDD-7BDDED7F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D68D-0440-401C-4906-62A3BCDD7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29490-1F79-B946-41CB-E848298E0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B3BD7-2DEA-B458-7645-C35D32ACE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120E-5D34-85FB-F8EC-9BF59016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28B3D-0058-FB14-8A41-34E1DFC1F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FC644-D3CB-1CEA-9C3E-0645C763A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5D905-9C35-15DA-7FE2-C7B20848F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63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75FA-879F-32F6-18FE-AEAF6BEB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26F45-B743-1628-BC38-B98787514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4DA56-4037-FF87-C6C8-A10D511E6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6476F-C0ED-FDF4-AAC2-88B11D0A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86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mart-grain-silo-monitoring-system.s3-website-us-east-1.amazonaws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7722" y="523447"/>
            <a:ext cx="8567912" cy="3291840"/>
          </a:xfrm>
        </p:spPr>
        <p:txBody>
          <a:bodyPr/>
          <a:lstStyle/>
          <a:p>
            <a:r>
              <a:rPr lang="en-US" dirty="0"/>
              <a:t>Scalable Fog–Cloud Architecture for Smart Grain Silo Monitoring System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F43AA-FCEC-36DB-4D56-83669353D64C}"/>
              </a:ext>
            </a:extLst>
          </p:cNvPr>
          <p:cNvSpPr txBox="1"/>
          <p:nvPr/>
        </p:nvSpPr>
        <p:spPr>
          <a:xfrm>
            <a:off x="8584163" y="4721289"/>
            <a:ext cx="262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Subin George</a:t>
            </a:r>
          </a:p>
          <a:p>
            <a:r>
              <a:rPr lang="en-IN" b="1" dirty="0">
                <a:solidFill>
                  <a:schemeClr val="bg1"/>
                </a:solidFill>
              </a:rPr>
              <a:t>Student ID: </a:t>
            </a:r>
            <a:r>
              <a:rPr lang="en-IE" b="1" dirty="0">
                <a:solidFill>
                  <a:schemeClr val="bg1"/>
                </a:solidFill>
              </a:rPr>
              <a:t>24111945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6"/>
            <a:ext cx="10873740" cy="1100774"/>
          </a:xfrm>
        </p:spPr>
        <p:txBody>
          <a:bodyPr/>
          <a:lstStyle/>
          <a:p>
            <a:r>
              <a:rPr lang="en-US" dirty="0"/>
              <a:t>What is a Grain Silo &amp; Why Monitor It?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679510"/>
            <a:ext cx="5372100" cy="45999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grain silo is a large storage structure used to store harvested grains such as wheat, corn, rice, and barley over long periods of time.</a:t>
            </a:r>
          </a:p>
          <a:p>
            <a:r>
              <a:rPr lang="en-US" b="1" dirty="0"/>
              <a:t>Temperature &amp; Humidity</a:t>
            </a:r>
            <a:r>
              <a:rPr lang="en-US" dirty="0"/>
              <a:t> — Poor conditions accelerate grain spoilage and encourage fungal and microbial growth.</a:t>
            </a:r>
          </a:p>
          <a:p>
            <a:r>
              <a:rPr lang="en-US" b="1" dirty="0"/>
              <a:t>CO₂ Buildup</a:t>
            </a:r>
            <a:r>
              <a:rPr lang="en-US" dirty="0"/>
              <a:t> — Rising CO₂ levels inside the silo signal anaerobic fermentation or pest infestation.</a:t>
            </a:r>
          </a:p>
          <a:p>
            <a:r>
              <a:rPr lang="en-US" b="1" dirty="0"/>
              <a:t>Vibration</a:t>
            </a:r>
            <a:r>
              <a:rPr lang="en-US" dirty="0"/>
              <a:t> — Unusual vibrations indicate structural stress or mechanical failure risks.</a:t>
            </a:r>
          </a:p>
          <a:p>
            <a:r>
              <a:rPr lang="en-US" b="1" dirty="0"/>
              <a:t>Grain Level</a:t>
            </a:r>
            <a:r>
              <a:rPr lang="en-US" dirty="0"/>
              <a:t> — Unexpected drops in grain level may signal a leak or breach, enabling early intervention and preventing grain loss.</a:t>
            </a:r>
          </a:p>
          <a:p>
            <a:endParaRPr lang="en-US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D17C506-5617-B50C-4A93-A9A5D89A8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" y="1679510"/>
            <a:ext cx="5077105" cy="46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30"/>
            <a:ext cx="9778365" cy="61761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93456" y="2752530"/>
            <a:ext cx="4490827" cy="340930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Sensor Layer: </a:t>
            </a:r>
            <a:r>
              <a:rPr lang="en-US" dirty="0"/>
              <a:t>Node.js Simulator</a:t>
            </a:r>
            <a:br>
              <a:rPr lang="en-US" dirty="0"/>
            </a:br>
            <a:r>
              <a:rPr lang="en-US" dirty="0"/>
              <a:t>MQTT / AWS IoT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Fog Layer: </a:t>
            </a:r>
            <a:r>
              <a:rPr lang="en-US" dirty="0"/>
              <a:t>AWS Lambda Filtering &amp; Thresholds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Messaging Layer: </a:t>
            </a:r>
            <a:r>
              <a:rPr lang="en-US" dirty="0"/>
              <a:t>Amazon SQS FIFO</a:t>
            </a:r>
            <a:br>
              <a:rPr lang="en-US" dirty="0"/>
            </a:br>
            <a:r>
              <a:rPr lang="en-US" dirty="0"/>
              <a:t>Ordering &amp; Deduplication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Backend Layer: </a:t>
            </a:r>
            <a:r>
              <a:rPr lang="en-US" dirty="0"/>
              <a:t>Lambda + DynamoDB</a:t>
            </a:r>
            <a:br>
              <a:rPr lang="en-US" dirty="0"/>
            </a:br>
            <a:r>
              <a:rPr lang="en-US" dirty="0"/>
              <a:t>Storage &amp;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Presentation Layer: </a:t>
            </a:r>
            <a:r>
              <a:rPr lang="en-US" dirty="0"/>
              <a:t>React Dashboard WebSocket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B28E7-6F67-7B46-267C-872FEF0EB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965260"/>
            <a:ext cx="6730171" cy="5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C523-681B-8DFB-8FED-43C686D8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B937-D1ED-1032-0A05-080D8748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30"/>
            <a:ext cx="9778365" cy="1148902"/>
          </a:xfrm>
        </p:spPr>
        <p:txBody>
          <a:bodyPr/>
          <a:lstStyle/>
          <a:p>
            <a:r>
              <a:rPr lang="en-US" dirty="0"/>
              <a:t>Sensor Parameters &amp; Thresholds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44A28B8B-AC80-EAAC-71CF-41365F3E82A6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836764835"/>
              </p:ext>
            </p:extLst>
          </p:nvPr>
        </p:nvGraphicFramePr>
        <p:xfrm>
          <a:off x="594360" y="1716417"/>
          <a:ext cx="9057412" cy="371455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62228">
                  <a:extLst>
                    <a:ext uri="{9D8B030D-6E8A-4147-A177-3AD203B41FA5}">
                      <a16:colId xmlns:a16="http://schemas.microsoft.com/office/drawing/2014/main" val="2767990674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2444715625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82939824"/>
                    </a:ext>
                  </a:extLst>
                </a:gridCol>
                <a:gridCol w="2784441">
                  <a:extLst>
                    <a:ext uri="{9D8B030D-6E8A-4147-A177-3AD203B41FA5}">
                      <a16:colId xmlns:a16="http://schemas.microsoft.com/office/drawing/2014/main" val="2761952065"/>
                    </a:ext>
                  </a:extLst>
                </a:gridCol>
              </a:tblGrid>
              <a:tr h="565987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Sensor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924750"/>
                  </a:ext>
                </a:extLst>
              </a:tr>
              <a:tr h="647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– 40 °C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 °C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/ DS18B20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642420"/>
                  </a:ext>
                </a:extLst>
              </a:tr>
              <a:tr h="6997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(%)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80 %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60 %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SHT31 / DHT22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838393"/>
                  </a:ext>
                </a:extLst>
              </a:tr>
              <a:tr h="569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(ppm)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– 1500 ppm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1000 ppm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MH-Z19 / SCD30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201758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(g)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1.5 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0.5 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ADXL345 / MPU6050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31813"/>
                  </a:ext>
                </a:extLst>
              </a:tr>
              <a:tr h="565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Level (%)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100 %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70 %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/ HX711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052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40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24D2-7FB7-C41E-4998-BB2757DE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21D9EE-4F8B-754A-575B-C2768714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IN" dirty="0"/>
              <a:t>Design Patterns &amp; Scalability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B6BFD0-0E05-CC13-BA5B-97C66877A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0586DF3-FB43-A378-3EFE-3D8C0A9F5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71BDAA5-F48A-EFFB-D376-ACBD0D52C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22C3B99-EC5A-3943-C494-69BFA251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Rectangle 4">
            <a:extLst>
              <a:ext uri="{FF2B5EF4-FFF2-40B4-BE49-F238E27FC236}">
                <a16:creationId xmlns:a16="http://schemas.microsoft.com/office/drawing/2014/main" id="{AD2E782D-CD1B-5417-8E37-4DF3B42A642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54564" y="2256740"/>
            <a:ext cx="11840546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Serverless Computing</a:t>
            </a:r>
            <a:r>
              <a:rPr lang="en-IN" dirty="0"/>
              <a:t> — AWS Lambda auto-scales with workload fluctuations; pay-per-use keeps costs low.</a:t>
            </a:r>
          </a:p>
          <a:p>
            <a:r>
              <a:rPr lang="en-IN" b="1" dirty="0"/>
              <a:t>Event-Driven Architecture</a:t>
            </a:r>
            <a:r>
              <a:rPr lang="en-IN" dirty="0"/>
              <a:t> — Components communicate via events (MQTT messages, SQS triggers), keeping the system loosely coupled and flexible.</a:t>
            </a:r>
          </a:p>
          <a:p>
            <a:r>
              <a:rPr lang="en-IN" b="1" dirty="0"/>
              <a:t>Publish-Subscribe Messaging</a:t>
            </a:r>
            <a:r>
              <a:rPr lang="en-IN" dirty="0"/>
              <a:t> — Reducing communication overhead and enabling scalable data distribution.</a:t>
            </a:r>
          </a:p>
          <a:p>
            <a:r>
              <a:rPr lang="en-IN" b="1" dirty="0"/>
              <a:t>Queue-Based Load Levelling</a:t>
            </a:r>
            <a:r>
              <a:rPr lang="en-IN" dirty="0"/>
              <a:t> — Amazon SQS absorbs data spikes, preventing overload and ensuring fault-tolerant, steady processing.</a:t>
            </a:r>
          </a:p>
          <a:p>
            <a:r>
              <a:rPr lang="en-IN" b="1" dirty="0"/>
              <a:t>Real-Time Push via </a:t>
            </a:r>
            <a:r>
              <a:rPr lang="en-IN" b="1" dirty="0" err="1"/>
              <a:t>WebSockets</a:t>
            </a:r>
            <a:r>
              <a:rPr lang="en-IN" dirty="0"/>
              <a:t> — Bidirectional client-server communication delivers live updates to the dashboard with minimal network overhead.</a:t>
            </a:r>
          </a:p>
          <a:p>
            <a:r>
              <a:rPr lang="en-US" b="1" dirty="0"/>
              <a:t>DynamoDB for Scalable Storage</a:t>
            </a:r>
            <a:r>
              <a:rPr lang="en-US" dirty="0"/>
              <a:t> — NoSQL database with automatic scaling, high throughput, and low-latency reads; no schema management required, ideal for variable IoT data.</a:t>
            </a: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97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3B29-99BB-02E4-925B-A63EC5DE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843F-2494-9A1D-257A-997D21ED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30"/>
            <a:ext cx="9778365" cy="617610"/>
          </a:xfrm>
        </p:spPr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A1E1F-A926-91A3-BE1E-580D9E2C515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882" y="1231980"/>
            <a:ext cx="4960274" cy="51989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Push to GitHub Repository</a:t>
            </a:r>
            <a:r>
              <a:rPr lang="en-US" dirty="0"/>
              <a:t> — push updated code to the GitHub repository, triggering the automated pipeline.</a:t>
            </a:r>
          </a:p>
          <a:p>
            <a:r>
              <a:rPr lang="en-US" b="1" dirty="0"/>
              <a:t>GitHub Actions Triggered</a:t>
            </a:r>
            <a:r>
              <a:rPr lang="en-US" dirty="0"/>
              <a:t> — The workflow is automatically activated on every push</a:t>
            </a:r>
          </a:p>
          <a:p>
            <a:r>
              <a:rPr lang="en-US" b="1" dirty="0"/>
              <a:t>Install Dependencies</a:t>
            </a:r>
            <a:r>
              <a:rPr lang="en-US" dirty="0"/>
              <a:t> — Pipeline installs all required Node.js packages and libraries needed to build the React application.</a:t>
            </a:r>
          </a:p>
          <a:p>
            <a:r>
              <a:rPr lang="en-US" b="1" dirty="0"/>
              <a:t>Build React Application</a:t>
            </a:r>
            <a:r>
              <a:rPr lang="en-US" dirty="0"/>
              <a:t> — The React app is compiled into </a:t>
            </a:r>
            <a:r>
              <a:rPr lang="en-US" dirty="0" err="1"/>
              <a:t>optimised</a:t>
            </a:r>
            <a:r>
              <a:rPr lang="en-US" dirty="0"/>
              <a:t> static files (HTML, CSS, JavaScript) ready for production.</a:t>
            </a:r>
          </a:p>
          <a:p>
            <a:r>
              <a:rPr lang="en-US" b="1" dirty="0"/>
              <a:t>Upload Static Files to S3</a:t>
            </a:r>
            <a:r>
              <a:rPr lang="en-US" dirty="0"/>
              <a:t> — The generated build files are uploaded to an Amazon S3 bucket configured for static website hosting.</a:t>
            </a:r>
          </a:p>
          <a:p>
            <a:r>
              <a:rPr lang="en-US" b="1" dirty="0"/>
              <a:t>Deploy as Static Website</a:t>
            </a:r>
            <a:r>
              <a:rPr lang="en-US" dirty="0"/>
              <a:t> — S3 serves the files as a publicly accessible static website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484F37-13B6-3503-A12E-3B270CAA9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11" y="1083031"/>
            <a:ext cx="5130031" cy="549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9640159" cy="1574317"/>
          </a:xfrm>
        </p:spPr>
        <p:txBody>
          <a:bodyPr/>
          <a:lstStyle/>
          <a:p>
            <a:pPr lvl="1"/>
            <a:r>
              <a:rPr lang="en-US" b="1" dirty="0">
                <a:hlinkClick r:id="rId3"/>
              </a:rPr>
              <a:t>http://smart-grain-silo-monitoring-system.s3-website-us-east-1.amazonaws.com/</a:t>
            </a: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172</TotalTime>
  <Words>513</Words>
  <Application>Microsoft Office PowerPoint</Application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Custom</vt:lpstr>
      <vt:lpstr>Scalable Fog–Cloud Architecture for Smart Grain Silo Monitoring System </vt:lpstr>
      <vt:lpstr>What is a Grain Silo &amp; Why Monitor It?</vt:lpstr>
      <vt:lpstr>System Architecture</vt:lpstr>
      <vt:lpstr>Sensor Parameters &amp; Thresholds</vt:lpstr>
      <vt:lpstr>Design Patterns &amp; Scalability</vt:lpstr>
      <vt:lpstr>CI/CD Pipeline</vt:lpstr>
      <vt:lpstr>Live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Subin George</dc:creator>
  <cp:lastModifiedBy>Subin George</cp:lastModifiedBy>
  <cp:revision>17</cp:revision>
  <dcterms:created xsi:type="dcterms:W3CDTF">2026-03-31T00:14:02Z</dcterms:created>
  <dcterms:modified xsi:type="dcterms:W3CDTF">2026-04-18T21:14:38Z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